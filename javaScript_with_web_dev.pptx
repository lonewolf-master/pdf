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2"/>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b="1" dirty="0"/>
              <a:t>JavaScript with Web</a:t>
            </a:r>
            <a:endParaRPr lang="en-US" sz="5400" b="1" dirty="0"/>
          </a:p>
        </p:txBody>
      </p:sp>
      <p:sp>
        <p:nvSpPr>
          <p:cNvPr id="3" name="Subtitle 2"/>
          <p:cNvSpPr>
            <a:spLocks noGrp="1"/>
          </p:cNvSpPr>
          <p:nvPr>
            <p:ph type="subTitle" idx="1"/>
          </p:nvPr>
        </p:nvSpPr>
        <p:spPr/>
        <p:txBody>
          <a:bodyPr/>
          <a:lstStyle/>
          <a:p>
            <a:r>
              <a:rPr lang="en-US"/>
              <a:t>By Kouam Michel Leroi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lang="en-US" altLang="en-US"/>
              <a:t>This tutorial assumes you have a basic understanding of JavaScript (variables, data types, loops, functions, etc.). We'll dive into advanced concepts, modern ES6+ features, and best practices to make you a proficient JavaScript developer.</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Closures and Scope</a:t>
            </a:r>
            <a:endParaRPr lang="en-US" altLang="en-US" b="1"/>
          </a:p>
        </p:txBody>
      </p:sp>
      <p:sp>
        <p:nvSpPr>
          <p:cNvPr id="3" name="Content Placeholder 2"/>
          <p:cNvSpPr>
            <a:spLocks noGrp="1"/>
          </p:cNvSpPr>
          <p:nvPr>
            <p:ph idx="1"/>
          </p:nvPr>
        </p:nvSpPr>
        <p:spPr/>
        <p:txBody>
          <a:bodyPr/>
          <a:p>
            <a:pPr marL="0" indent="0">
              <a:buNone/>
            </a:pPr>
            <a:r>
              <a:rPr lang="en-US" altLang="en-US" b="1"/>
              <a:t>Key Concepts</a:t>
            </a:r>
            <a:endParaRPr lang="en-US" altLang="en-US" b="1"/>
          </a:p>
          <a:p>
            <a:r>
              <a:rPr lang="en-US" altLang="en-US"/>
              <a:t>Scope: Determines variable accessibility (global, function, block).</a:t>
            </a:r>
            <a:endParaRPr lang="en-US" altLang="en-US"/>
          </a:p>
          <a:p>
            <a:r>
              <a:rPr lang="en-US" altLang="en-US"/>
              <a:t>Closure: A function that retains access to its outer lexical scope even after the outer function has finished executing.</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e.g;</a:t>
            </a:r>
            <a:endParaRPr lang="en-US"/>
          </a:p>
        </p:txBody>
      </p:sp>
      <p:sp>
        <p:nvSpPr>
          <p:cNvPr id="3" name="Content Placeholder 2"/>
          <p:cNvSpPr>
            <a:spLocks noGrp="1"/>
          </p:cNvSpPr>
          <p:nvPr>
            <p:ph idx="1"/>
          </p:nvPr>
        </p:nvSpPr>
        <p:spPr>
          <a:xfrm>
            <a:off x="609600" y="1174750"/>
            <a:ext cx="4949190" cy="4953000"/>
          </a:xfrm>
        </p:spPr>
        <p:txBody>
          <a:bodyPr/>
          <a:p>
            <a:pPr marL="0" indent="0">
              <a:buNone/>
            </a:pPr>
            <a:r>
              <a:rPr lang="en-US" altLang="en-US" sz="2400" b="1"/>
              <a:t>function outer() {</a:t>
            </a:r>
            <a:endParaRPr lang="en-US" altLang="en-US" sz="2400" b="1"/>
          </a:p>
          <a:p>
            <a:pPr marL="0" indent="0">
              <a:buNone/>
            </a:pPr>
            <a:r>
              <a:rPr lang="en-US" altLang="en-US" sz="2400" b="1"/>
              <a:t>  let count = 0;</a:t>
            </a:r>
            <a:endParaRPr lang="en-US" altLang="en-US" sz="2400" b="1"/>
          </a:p>
          <a:p>
            <a:pPr marL="0" indent="0">
              <a:buNone/>
            </a:pPr>
            <a:r>
              <a:rPr lang="en-US" altLang="en-US" sz="2400" b="1"/>
              <a:t>  return function inner() {</a:t>
            </a:r>
            <a:endParaRPr lang="en-US" altLang="en-US" sz="2400" b="1"/>
          </a:p>
          <a:p>
            <a:pPr marL="0" indent="0">
              <a:buNone/>
            </a:pPr>
            <a:r>
              <a:rPr lang="en-US" altLang="en-US" sz="2400" b="1"/>
              <a:t>    count++;</a:t>
            </a:r>
            <a:endParaRPr lang="en-US" altLang="en-US" sz="2400" b="1"/>
          </a:p>
          <a:p>
            <a:pPr marL="0" indent="0">
              <a:buNone/>
            </a:pPr>
            <a:r>
              <a:rPr lang="en-US" altLang="en-US" sz="2400" b="1"/>
              <a:t>    console.log(count);</a:t>
            </a:r>
            <a:endParaRPr lang="en-US" altLang="en-US" sz="2400" b="1"/>
          </a:p>
          <a:p>
            <a:pPr marL="0" indent="0">
              <a:buNone/>
            </a:pPr>
            <a:r>
              <a:rPr lang="en-US" altLang="en-US" sz="2400" b="1"/>
              <a:t>  };</a:t>
            </a:r>
            <a:endParaRPr lang="en-US" altLang="en-US" sz="2400" b="1"/>
          </a:p>
          <a:p>
            <a:pPr marL="0" indent="0">
              <a:buNone/>
            </a:pPr>
            <a:r>
              <a:rPr lang="en-US" altLang="en-US" sz="2400" b="1"/>
              <a:t>}</a:t>
            </a:r>
            <a:endParaRPr lang="en-US" altLang="en-US" sz="2400" b="1"/>
          </a:p>
          <a:p>
            <a:pPr marL="0" indent="0">
              <a:buNone/>
            </a:pPr>
            <a:endParaRPr lang="en-US" altLang="en-US" sz="2400" b="1"/>
          </a:p>
          <a:p>
            <a:pPr marL="0" indent="0">
              <a:buNone/>
            </a:pPr>
            <a:r>
              <a:rPr lang="en-US" altLang="en-US" sz="2400" b="1"/>
              <a:t>const counter = outer();</a:t>
            </a:r>
            <a:endParaRPr lang="en-US" altLang="en-US" sz="2400" b="1"/>
          </a:p>
          <a:p>
            <a:pPr marL="0" indent="0">
              <a:buNone/>
            </a:pPr>
            <a:r>
              <a:rPr lang="en-US" altLang="en-US" sz="2400" b="1"/>
              <a:t>counter(); // 1</a:t>
            </a:r>
            <a:endParaRPr lang="en-US" altLang="en-US" sz="2400" b="1"/>
          </a:p>
          <a:p>
            <a:pPr marL="0" indent="0">
              <a:buNone/>
            </a:pPr>
            <a:r>
              <a:rPr lang="en-US" altLang="en-US" sz="2400" b="1"/>
              <a:t>counter(); // 2</a:t>
            </a:r>
            <a:endParaRPr lang="en-US" altLang="en-US" sz="2400" b="1"/>
          </a:p>
        </p:txBody>
      </p:sp>
      <p:sp>
        <p:nvSpPr>
          <p:cNvPr id="4" name="Text Box 3"/>
          <p:cNvSpPr txBox="1"/>
          <p:nvPr/>
        </p:nvSpPr>
        <p:spPr>
          <a:xfrm>
            <a:off x="5749290" y="1517015"/>
            <a:ext cx="5280660" cy="4246245"/>
          </a:xfrm>
          <a:prstGeom prst="rect">
            <a:avLst/>
          </a:prstGeom>
          <a:noFill/>
        </p:spPr>
        <p:txBody>
          <a:bodyPr wrap="square" rtlCol="0">
            <a:noAutofit/>
          </a:bodyPr>
          <a:p>
            <a:pPr>
              <a:lnSpc>
                <a:spcPct val="150000"/>
              </a:lnSpc>
            </a:pPr>
            <a:r>
              <a:rPr lang="en-US" altLang="en-US" sz="2400" b="1"/>
              <a:t>Why it matters:</a:t>
            </a:r>
            <a:endParaRPr lang="en-US" altLang="en-US" sz="2400" b="1"/>
          </a:p>
          <a:p>
            <a:pPr>
              <a:lnSpc>
                <a:spcPct val="150000"/>
              </a:lnSpc>
            </a:pPr>
            <a:r>
              <a:rPr lang="en-US" altLang="en-US" sz="2400"/>
              <a:t>Closures enable data encapsulation, private variables, and functional programming patterns.</a:t>
            </a: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Prototypes and Inheritance</a:t>
            </a:r>
            <a:endParaRPr lang="en-US" altLang="en-US" b="1"/>
          </a:p>
        </p:txBody>
      </p:sp>
      <p:sp>
        <p:nvSpPr>
          <p:cNvPr id="3" name="Content Placeholder 2"/>
          <p:cNvSpPr>
            <a:spLocks noGrp="1"/>
          </p:cNvSpPr>
          <p:nvPr>
            <p:ph idx="1"/>
          </p:nvPr>
        </p:nvSpPr>
        <p:spPr/>
        <p:txBody>
          <a:bodyPr/>
          <a:p>
            <a:pPr marL="0" indent="0">
              <a:buNone/>
            </a:pPr>
            <a:r>
              <a:rPr lang="en-US" altLang="en-US"/>
              <a:t>In JavaScript, Prototypes are the mechanism by which objects inherit features from one another. It's the core concept behind how inheritance works in the language.</a:t>
            </a:r>
            <a:endParaRPr lang="en-US" altLang="en-US"/>
          </a:p>
          <a:p>
            <a:pPr marL="0" indent="0">
              <a:buNone/>
            </a:pPr>
            <a:r>
              <a:rPr lang="en-US" altLang="en-US" b="1"/>
              <a:t>Key Concepts</a:t>
            </a:r>
            <a:endParaRPr lang="en-US" altLang="en-US" b="1"/>
          </a:p>
          <a:p>
            <a:r>
              <a:rPr lang="en-US" altLang="en-US"/>
              <a:t>Prototype Chain: Objects inherit properties from other objects via [[Prototype]] (accessible via __proto__ or Object.getPrototypeOf()).</a:t>
            </a:r>
            <a:endParaRPr lang="en-US" altLang="en-US"/>
          </a:p>
          <a:p>
            <a:r>
              <a:rPr lang="en-US" altLang="en-US"/>
              <a:t>Constructor Functions: Traditional way to create objects.</a:t>
            </a:r>
            <a:endParaRPr lang="en-US" altLang="en-US"/>
          </a:p>
          <a:p>
            <a:r>
              <a:rPr lang="en-US" altLang="en-US"/>
              <a:t>ES6 Classes: Syntactic sugar over prototypes.</a:t>
            </a:r>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What are Prototypes?</a:t>
            </a:r>
            <a:endParaRPr lang="en-US"/>
          </a:p>
        </p:txBody>
      </p:sp>
      <p:sp>
        <p:nvSpPr>
          <p:cNvPr id="3" name="Content Placeholder 2"/>
          <p:cNvSpPr>
            <a:spLocks noGrp="1"/>
          </p:cNvSpPr>
          <p:nvPr>
            <p:ph idx="1"/>
          </p:nvPr>
        </p:nvSpPr>
        <p:spPr/>
        <p:txBody>
          <a:bodyPr/>
          <a:p>
            <a:pPr>
              <a:lnSpc>
                <a:spcPct val="150000"/>
              </a:lnSpc>
            </a:pPr>
            <a:r>
              <a:rPr lang="en-US" altLang="en-US" sz="2000"/>
              <a:t>Every object in JavaScript has an internal property called [[Prototype]]. This property points to another object, which is known as its prototype.</a:t>
            </a:r>
            <a:endParaRPr lang="en-US" altLang="en-US" sz="2000"/>
          </a:p>
          <a:p>
            <a:pPr>
              <a:lnSpc>
                <a:spcPct val="150000"/>
              </a:lnSpc>
            </a:pPr>
            <a:r>
              <a:rPr lang="en-US" altLang="en-US" sz="2000" b="1"/>
              <a:t>The Chain:</a:t>
            </a:r>
            <a:r>
              <a:rPr lang="en-US" altLang="en-US" sz="2000"/>
              <a:t> </a:t>
            </a:r>
            <a:endParaRPr lang="en-US" altLang="en-US" sz="2000"/>
          </a:p>
          <a:p>
            <a:pPr marL="457200" lvl="1" indent="0">
              <a:lnSpc>
                <a:spcPct val="150000"/>
              </a:lnSpc>
              <a:buNone/>
            </a:pPr>
            <a:r>
              <a:rPr lang="en-US" altLang="en-US" sz="1750"/>
              <a:t>When you try to access a property or method on an object, JavaScript first checks if the property exists directly on that object. If it doesn't, it looks in the object's prototype. If it's still not found, it continues up the chain of prototypes (the prototype chain) until it reaches the end, which is typically the Object.prototype.</a:t>
            </a:r>
            <a:endParaRPr lang="en-US" altLang="en-US" sz="1750"/>
          </a:p>
          <a:p>
            <a:pPr>
              <a:lnSpc>
                <a:spcPct val="150000"/>
              </a:lnSpc>
            </a:pPr>
            <a:r>
              <a:rPr lang="en-US" altLang="en-US" sz="2000" b="1"/>
              <a:t>Object.prototype:</a:t>
            </a:r>
            <a:endParaRPr lang="en-US" altLang="en-US" sz="2000" b="1"/>
          </a:p>
          <a:p>
            <a:pPr marL="0" indent="457200">
              <a:lnSpc>
                <a:spcPct val="150000"/>
              </a:lnSpc>
              <a:buNone/>
            </a:pPr>
            <a:r>
              <a:rPr lang="en-US" altLang="en-US" sz="2000"/>
              <a:t> This is the root of almost all prototype chains. It's an object that has null for its own prototype. It contains common methods like toString(), hasOwnProperty(), and valueOf().</a:t>
            </a:r>
            <a:endParaRPr lang="en-US" alt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L="0" indent="0">
              <a:buNone/>
            </a:pPr>
            <a:r>
              <a:rPr lang="en-US" altLang="en-US" b="1"/>
              <a:t>Accessing the Prototype:</a:t>
            </a:r>
            <a:endParaRPr lang="en-US" altLang="en-US"/>
          </a:p>
          <a:p>
            <a:r>
              <a:rPr lang="en-US" altLang="en-US"/>
              <a:t>You can access the prototype object via the non-standard but widely supported </a:t>
            </a:r>
            <a:r>
              <a:rPr lang="en-US" altLang="en-US" b="1"/>
              <a:t>property __proto__.</a:t>
            </a:r>
            <a:endParaRPr lang="en-US" altLang="en-US" b="1"/>
          </a:p>
          <a:p>
            <a:r>
              <a:rPr lang="en-US" altLang="en-US"/>
              <a:t>The standard way to access it is using </a:t>
            </a:r>
            <a:r>
              <a:rPr lang="en-US" altLang="en-US" b="1"/>
              <a:t>Object.getPrototypeOf(obj).</a:t>
            </a:r>
            <a:endParaRPr lang="en-US" altLang="en-US" b="1"/>
          </a:p>
          <a:p>
            <a:pPr marL="0" indent="0">
              <a:buNone/>
            </a:pPr>
            <a:endParaRPr lang="en-US" altLang="en-US" sz="2800"/>
          </a:p>
          <a:p>
            <a:pPr marL="0" indent="0">
              <a:buNone/>
            </a:pPr>
            <a:r>
              <a:rPr lang="en-US" altLang="en-US" sz="2800" b="1"/>
              <a:t>How Inheritance Works (Prototypal Inheritance)</a:t>
            </a:r>
            <a:endParaRPr lang="en-US" altLang="en-US" sz="2800" b="1"/>
          </a:p>
          <a:p>
            <a:r>
              <a:rPr lang="en-US" altLang="en-US" sz="2800"/>
              <a:t>JavaScript uses prototypal inheritance, meaning that objects inherit directly from other objects, rather than from classes (as in classical inheritance).</a:t>
            </a:r>
            <a:endParaRPr lang="en-US" alt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Constructor Functions</a:t>
            </a:r>
            <a:endParaRPr lang="en-US" altLang="en-US"/>
          </a:p>
        </p:txBody>
      </p:sp>
      <p:sp>
        <p:nvSpPr>
          <p:cNvPr id="3" name="Content Placeholder 2"/>
          <p:cNvSpPr>
            <a:spLocks noGrp="1"/>
          </p:cNvSpPr>
          <p:nvPr>
            <p:ph idx="1"/>
          </p:nvPr>
        </p:nvSpPr>
        <p:spPr/>
        <p:txBody>
          <a:bodyPr/>
          <a:p>
            <a:pPr marL="0" indent="0">
              <a:buNone/>
            </a:pPr>
            <a:r>
              <a:rPr lang="en-US" altLang="en-US" sz="2800"/>
              <a:t>Before ES6 classes, developers used constructor functions and the new keyword to create objects and set up inheritance:</a:t>
            </a:r>
            <a:endParaRPr lang="en-US" altLang="en-US" sz="2800"/>
          </a:p>
          <a:p>
            <a:pPr marL="0" indent="0">
              <a:buNone/>
            </a:pPr>
            <a:r>
              <a:rPr lang="en-US" altLang="en-US" sz="2000"/>
              <a:t>function Animal(name) {</a:t>
            </a:r>
            <a:endParaRPr lang="en-US" altLang="en-US" sz="2000"/>
          </a:p>
          <a:p>
            <a:pPr marL="0" indent="0">
              <a:buNone/>
            </a:pPr>
            <a:r>
              <a:rPr lang="en-US" altLang="en-US" sz="2000"/>
              <a:t>  this.name = name;</a:t>
            </a:r>
            <a:endParaRPr lang="en-US" altLang="en-US" sz="2000"/>
          </a:p>
          <a:p>
            <a:pPr marL="0" indent="0">
              <a:buNone/>
            </a:pPr>
            <a:r>
              <a:rPr lang="en-US" altLang="en-US" sz="2000"/>
              <a:t>}</a:t>
            </a:r>
            <a:endParaRPr lang="en-US" altLang="en-US" sz="2000"/>
          </a:p>
          <a:p>
            <a:pPr marL="0" indent="0">
              <a:buNone/>
            </a:pPr>
            <a:r>
              <a:rPr lang="en-US" altLang="en-US" sz="2000"/>
              <a:t>// Add a method to the Animal's prototype.</a:t>
            </a:r>
            <a:endParaRPr lang="en-US" altLang="en-US" sz="2000"/>
          </a:p>
          <a:p>
            <a:pPr marL="0" indent="0">
              <a:buNone/>
            </a:pPr>
            <a:r>
              <a:rPr lang="en-US" altLang="en-US" sz="2000"/>
              <a:t>// ALL objects created with 'new Animal()' will inherit this method.</a:t>
            </a:r>
            <a:endParaRPr lang="en-US" altLang="en-US" sz="2000"/>
          </a:p>
          <a:p>
            <a:pPr marL="0" indent="0">
              <a:buNone/>
            </a:pPr>
            <a:r>
              <a:rPr lang="en-US" altLang="en-US" sz="2000"/>
              <a:t>Animal.prototype.speak = function() {</a:t>
            </a:r>
            <a:endParaRPr lang="en-US" altLang="en-US" sz="2000"/>
          </a:p>
          <a:p>
            <a:pPr marL="0" indent="0">
              <a:buNone/>
            </a:pPr>
            <a:r>
              <a:rPr lang="en-US" altLang="en-US" sz="2000"/>
              <a:t>  console.log(`${this.name} makes a noise.`);</a:t>
            </a:r>
            <a:endParaRPr lang="en-US" altLang="en-US" sz="2000"/>
          </a:p>
          <a:p>
            <a:pPr marL="0" indent="0">
              <a:buNone/>
            </a:pPr>
            <a:r>
              <a:rPr lang="en-US" altLang="en-US" sz="2000"/>
              <a:t>};</a:t>
            </a:r>
            <a:endParaRPr lang="en-US" altLang="en-US" sz="2000"/>
          </a:p>
          <a:p>
            <a:pPr marL="0" indent="0">
              <a:buNone/>
            </a:pPr>
            <a:r>
              <a:rPr lang="en-US" altLang="en-US" sz="2000"/>
              <a:t>const dog = new Animal('Buddy');</a:t>
            </a:r>
            <a:endParaRPr lang="en-US" altLang="en-US" sz="2000"/>
          </a:p>
          <a:p>
            <a:pPr marL="0" indent="0">
              <a:buNone/>
            </a:pPr>
            <a:r>
              <a:rPr lang="en-US" altLang="en-US" sz="2000"/>
              <a:t>dog.speak(); // Output: Buddy makes a noise.</a:t>
            </a:r>
            <a:endParaRPr lang="en-US" alt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ES6 Classes (Syntactical Sugar)</a:t>
            </a:r>
            <a:endParaRPr lang="en-US" altLang="en-US"/>
          </a:p>
        </p:txBody>
      </p:sp>
      <p:sp>
        <p:nvSpPr>
          <p:cNvPr id="3" name="Content Placeholder 2"/>
          <p:cNvSpPr>
            <a:spLocks noGrp="1"/>
          </p:cNvSpPr>
          <p:nvPr>
            <p:ph idx="1"/>
          </p:nvPr>
        </p:nvSpPr>
        <p:spPr>
          <a:xfrm>
            <a:off x="609600" y="1174750"/>
            <a:ext cx="10972800" cy="1296035"/>
          </a:xfrm>
        </p:spPr>
        <p:txBody>
          <a:bodyPr/>
          <a:p>
            <a:pPr marL="0" indent="0">
              <a:buNone/>
            </a:pPr>
            <a:r>
              <a:rPr lang="en-US" altLang="en-US" sz="2400"/>
              <a:t>The introduction of the class keyword in ES6 provides a much cleaner, more familiar syntax for setting up inheritance, but under the hood, it still uses prototypes.</a:t>
            </a:r>
            <a:endParaRPr lang="en-US" altLang="en-US" sz="2400"/>
          </a:p>
          <a:p>
            <a:pPr marL="0" indent="0">
              <a:buNone/>
            </a:pPr>
            <a:endParaRPr lang="en-US" altLang="en-US" sz="900"/>
          </a:p>
          <a:p>
            <a:pPr marL="0" indent="0">
              <a:buNone/>
            </a:pPr>
            <a:endParaRPr lang="en-US" altLang="en-US" sz="900"/>
          </a:p>
        </p:txBody>
      </p:sp>
      <p:sp>
        <p:nvSpPr>
          <p:cNvPr id="4" name="Text Box 3"/>
          <p:cNvSpPr txBox="1"/>
          <p:nvPr/>
        </p:nvSpPr>
        <p:spPr>
          <a:xfrm>
            <a:off x="4744720" y="2060575"/>
            <a:ext cx="5596890" cy="4630420"/>
          </a:xfrm>
          <a:prstGeom prst="rect">
            <a:avLst/>
          </a:prstGeom>
          <a:noFill/>
        </p:spPr>
        <p:txBody>
          <a:bodyPr wrap="square" rtlCol="0">
            <a:noAutofit/>
          </a:bodyPr>
          <a:p>
            <a:pPr marL="0" indent="0">
              <a:buNone/>
            </a:pPr>
            <a:r>
              <a:rPr lang="en-US" altLang="en-US">
                <a:sym typeface="+mn-ea"/>
              </a:rPr>
              <a:t>class Dog extends Pet {</a:t>
            </a:r>
            <a:endParaRPr lang="en-US" altLang="en-US"/>
          </a:p>
          <a:p>
            <a:pPr marL="0" indent="0">
              <a:buNone/>
            </a:pPr>
            <a:r>
              <a:rPr lang="en-US" altLang="en-US">
                <a:sym typeface="+mn-ea"/>
              </a:rPr>
              <a:t>  constructor(name, breed) {</a:t>
            </a:r>
            <a:endParaRPr lang="en-US" altLang="en-US"/>
          </a:p>
          <a:p>
            <a:pPr marL="0" indent="0">
              <a:buNone/>
            </a:pPr>
            <a:r>
              <a:rPr lang="en-US" altLang="en-US">
                <a:sym typeface="+mn-ea"/>
              </a:rPr>
              <a:t>    super(name); // Calls Pet constructor</a:t>
            </a:r>
            <a:endParaRPr lang="en-US" altLang="en-US"/>
          </a:p>
          <a:p>
            <a:pPr marL="0" indent="0">
              <a:buNone/>
            </a:pPr>
            <a:r>
              <a:rPr lang="en-US" altLang="en-US">
                <a:sym typeface="+mn-ea"/>
              </a:rPr>
              <a:t>    this.breed = breed;</a:t>
            </a:r>
            <a:endParaRPr lang="en-US" altLang="en-US"/>
          </a:p>
          <a:p>
            <a:pPr marL="0" indent="0">
              <a:buNone/>
            </a:pPr>
            <a:r>
              <a:rPr lang="en-US" altLang="en-US">
                <a:sym typeface="+mn-ea"/>
              </a:rPr>
              <a:t>  }</a:t>
            </a:r>
            <a:endParaRPr lang="en-US" altLang="en-US"/>
          </a:p>
          <a:p>
            <a:pPr marL="0" indent="0">
              <a:buNone/>
            </a:pPr>
            <a:r>
              <a:rPr lang="en-US" altLang="en-US">
                <a:sym typeface="+mn-ea"/>
              </a:rPr>
              <a:t>  // Overrides the inherited method</a:t>
            </a:r>
            <a:endParaRPr lang="en-US" altLang="en-US"/>
          </a:p>
          <a:p>
            <a:pPr marL="0" indent="0">
              <a:buNone/>
            </a:pPr>
            <a:r>
              <a:rPr lang="en-US" altLang="en-US">
                <a:sym typeface="+mn-ea"/>
              </a:rPr>
              <a:t>  speak() {</a:t>
            </a:r>
            <a:endParaRPr lang="en-US" altLang="en-US"/>
          </a:p>
          <a:p>
            <a:pPr marL="0" indent="0">
              <a:buNone/>
            </a:pPr>
            <a:r>
              <a:rPr lang="en-US" altLang="en-US">
                <a:sym typeface="+mn-ea"/>
              </a:rPr>
              <a:t>    console.log(`${this.name}, the ${this.breed}, barks!`);</a:t>
            </a:r>
            <a:endParaRPr lang="en-US" altLang="en-US"/>
          </a:p>
          <a:p>
            <a:pPr marL="0" indent="0">
              <a:buNone/>
            </a:pPr>
            <a:r>
              <a:rPr lang="en-US" altLang="en-US">
                <a:sym typeface="+mn-ea"/>
              </a:rPr>
              <a:t>  }</a:t>
            </a:r>
            <a:endParaRPr lang="en-US" altLang="en-US"/>
          </a:p>
          <a:p>
            <a:pPr marL="0" indent="0">
              <a:buNone/>
            </a:pPr>
            <a:r>
              <a:rPr lang="en-US" altLang="en-US">
                <a:sym typeface="+mn-ea"/>
              </a:rPr>
              <a:t>}</a:t>
            </a:r>
            <a:endParaRPr lang="en-US" altLang="en-US"/>
          </a:p>
          <a:p>
            <a:pPr marL="0" indent="0">
              <a:buNone/>
            </a:pPr>
            <a:endParaRPr lang="en-US" altLang="en-US"/>
          </a:p>
          <a:p>
            <a:pPr marL="0" indent="0">
              <a:buNone/>
            </a:pPr>
            <a:r>
              <a:rPr lang="en-US" altLang="en-US">
                <a:sym typeface="+mn-ea"/>
              </a:rPr>
              <a:t>const poodle = new Dog('Poodle', 'Standard');</a:t>
            </a:r>
            <a:endParaRPr lang="en-US" altLang="en-US"/>
          </a:p>
          <a:p>
            <a:pPr marL="0" indent="0">
              <a:buNone/>
            </a:pPr>
            <a:r>
              <a:rPr lang="en-US" altLang="en-US">
                <a:sym typeface="+mn-ea"/>
              </a:rPr>
              <a:t>poodle.speak(); // Output: Poodle, the Standard, barks!</a:t>
            </a:r>
            <a:endParaRPr lang="en-US" altLang="en-US"/>
          </a:p>
          <a:p>
            <a:endParaRPr lang="en-US"/>
          </a:p>
        </p:txBody>
      </p:sp>
      <p:sp>
        <p:nvSpPr>
          <p:cNvPr id="5" name="Text Box 4"/>
          <p:cNvSpPr txBox="1"/>
          <p:nvPr/>
        </p:nvSpPr>
        <p:spPr>
          <a:xfrm>
            <a:off x="680720" y="2579370"/>
            <a:ext cx="4064000" cy="3415030"/>
          </a:xfrm>
          <a:prstGeom prst="rect">
            <a:avLst/>
          </a:prstGeom>
          <a:noFill/>
        </p:spPr>
        <p:txBody>
          <a:bodyPr wrap="square" rtlCol="0">
            <a:spAutoFit/>
          </a:bodyPr>
          <a:p>
            <a:pPr marL="0" indent="0">
              <a:buNone/>
            </a:pPr>
            <a:r>
              <a:rPr lang="en-US" altLang="en-US">
                <a:sym typeface="+mn-ea"/>
              </a:rPr>
              <a:t>class Pet {</a:t>
            </a:r>
            <a:endParaRPr lang="en-US" altLang="en-US"/>
          </a:p>
          <a:p>
            <a:pPr marL="0" indent="0">
              <a:buNone/>
            </a:pPr>
            <a:r>
              <a:rPr lang="en-US" altLang="en-US">
                <a:sym typeface="+mn-ea"/>
              </a:rPr>
              <a:t>  constructor(name) {</a:t>
            </a:r>
            <a:endParaRPr lang="en-US" altLang="en-US"/>
          </a:p>
          <a:p>
            <a:pPr marL="0" indent="0">
              <a:buNone/>
            </a:pPr>
            <a:r>
              <a:rPr lang="en-US" altLang="en-US">
                <a:sym typeface="+mn-ea"/>
              </a:rPr>
              <a:t>    this.name = name;</a:t>
            </a:r>
            <a:endParaRPr lang="en-US" altLang="en-US"/>
          </a:p>
          <a:p>
            <a:pPr marL="0" indent="0">
              <a:buNone/>
            </a:pPr>
            <a:r>
              <a:rPr lang="en-US" altLang="en-US">
                <a:sym typeface="+mn-ea"/>
              </a:rPr>
              <a:t>  }</a:t>
            </a:r>
            <a:endParaRPr lang="en-US" altLang="en-US"/>
          </a:p>
          <a:p>
            <a:pPr marL="0" indent="0">
              <a:buNone/>
            </a:pPr>
            <a:r>
              <a:rPr lang="en-US" altLang="en-US">
                <a:sym typeface="+mn-ea"/>
              </a:rPr>
              <a:t>  // This method is automatically placed on Pet.prototype</a:t>
            </a:r>
            <a:endParaRPr lang="en-US" altLang="en-US"/>
          </a:p>
          <a:p>
            <a:pPr marL="0" indent="0">
              <a:buNone/>
            </a:pPr>
            <a:r>
              <a:rPr lang="en-US" altLang="en-US">
                <a:sym typeface="+mn-ea"/>
              </a:rPr>
              <a:t>  speak() {</a:t>
            </a:r>
            <a:endParaRPr lang="en-US" altLang="en-US"/>
          </a:p>
          <a:p>
            <a:pPr marL="0" indent="0">
              <a:buNone/>
            </a:pPr>
            <a:r>
              <a:rPr lang="en-US" altLang="en-US">
                <a:sym typeface="+mn-ea"/>
              </a:rPr>
              <a:t>    console.log(`${this.name} makes a noise.`);</a:t>
            </a:r>
            <a:endParaRPr lang="en-US" altLang="en-US"/>
          </a:p>
          <a:p>
            <a:pPr marL="0" indent="0">
              <a:buNone/>
            </a:pPr>
            <a:r>
              <a:rPr lang="en-US" altLang="en-US">
                <a:sym typeface="+mn-ea"/>
              </a:rPr>
              <a:t>  }</a:t>
            </a:r>
            <a:endParaRPr lang="en-US" altLang="en-US"/>
          </a:p>
          <a:p>
            <a:pPr marL="0" indent="0">
              <a:buNone/>
            </a:pPr>
            <a:r>
              <a:rPr lang="en-US" altLang="en-US">
                <a:sym typeface="+mn-ea"/>
              </a:rPr>
              <a:t>}</a:t>
            </a:r>
            <a:endParaRPr lang="en-US" alt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 Asynchronous JavaScript</a:t>
            </a:r>
            <a:endParaRPr lang="en-US" altLang="en-US"/>
          </a:p>
        </p:txBody>
      </p:sp>
      <p:sp>
        <p:nvSpPr>
          <p:cNvPr id="3" name="Content Placeholder 2"/>
          <p:cNvSpPr>
            <a:spLocks noGrp="1"/>
          </p:cNvSpPr>
          <p:nvPr>
            <p:ph idx="1"/>
          </p:nvPr>
        </p:nvSpPr>
        <p:spPr/>
        <p:txBody>
          <a:bodyPr/>
          <a:p>
            <a:pPr marL="0" indent="0">
              <a:buNone/>
            </a:pPr>
            <a:r>
              <a:rPr lang="en-US" altLang="en-US"/>
              <a:t>Key Concepts</a:t>
            </a:r>
            <a:endParaRPr lang="en-US" altLang="en-US"/>
          </a:p>
          <a:p>
            <a:r>
              <a:rPr lang="en-US" altLang="en-US"/>
              <a:t>Event Loop: Handles asynchronous operations (non-blocking).</a:t>
            </a:r>
            <a:endParaRPr lang="en-US" altLang="en-US"/>
          </a:p>
          <a:p>
            <a:r>
              <a:rPr lang="en-US" altLang="en-US"/>
              <a:t>Callbacks: Functions passed as arguments to async operations.</a:t>
            </a:r>
            <a:endParaRPr lang="en-US" altLang="en-US"/>
          </a:p>
          <a:p>
            <a:r>
              <a:rPr lang="en-US" altLang="en-US"/>
              <a:t>Promises: Objects representing eventual completion/failure of async operations.</a:t>
            </a:r>
            <a:endParaRPr lang="en-US" altLang="en-US"/>
          </a:p>
          <a:p>
            <a:r>
              <a:rPr lang="en-US" altLang="en-US"/>
              <a:t>Async/Await: Syntactic sugar for promises.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nSpc>
                <a:spcPct val="150000"/>
              </a:lnSpc>
            </a:pPr>
            <a:r>
              <a:rPr lang="en-US" altLang="en-US" sz="2400"/>
              <a:t>Asynchronous JavaScript is the way the language handles operations that may take an unknown amount of time to complete, such as fetching data from a network, reading files, or setting timeouts. Because JavaScript is single-threaded, if these long-running tasks were handled synchronously (one after the other), they would block the main thread, causing the user interface to freeze.</a:t>
            </a:r>
            <a:endParaRPr lang="en-US" altLang="en-US" sz="2400"/>
          </a:p>
          <a:p>
            <a:pPr>
              <a:lnSpc>
                <a:spcPct val="150000"/>
              </a:lnSpc>
            </a:pPr>
            <a:r>
              <a:rPr lang="en-US" altLang="en-US" sz="2400"/>
              <a:t>Asynchronous programming allows the main thread to continue executing other tasks while waiting for the long operation to finish, executing a specific function (a callback) only when the result is available.</a:t>
            </a: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Callbacks (The Old Way)</a:t>
            </a:r>
            <a:endParaRPr lang="en-US" altLang="en-US"/>
          </a:p>
        </p:txBody>
      </p:sp>
      <p:sp>
        <p:nvSpPr>
          <p:cNvPr id="3" name="Content Placeholder 2"/>
          <p:cNvSpPr>
            <a:spLocks noGrp="1"/>
          </p:cNvSpPr>
          <p:nvPr>
            <p:ph idx="1"/>
          </p:nvPr>
        </p:nvSpPr>
        <p:spPr>
          <a:xfrm>
            <a:off x="609600" y="897255"/>
            <a:ext cx="10972800" cy="1986915"/>
          </a:xfrm>
        </p:spPr>
        <p:txBody>
          <a:bodyPr/>
          <a:p>
            <a:pPr>
              <a:lnSpc>
                <a:spcPct val="150000"/>
              </a:lnSpc>
            </a:pPr>
            <a:r>
              <a:rPr lang="en-US" altLang="en-US" sz="2000"/>
              <a:t>The earliest method involved passing a function as an argument that would be executed later when the result was ready.</a:t>
            </a:r>
            <a:endParaRPr lang="en-US" altLang="en-US" sz="2000"/>
          </a:p>
          <a:p>
            <a:pPr>
              <a:lnSpc>
                <a:spcPct val="150000"/>
              </a:lnSpc>
            </a:pPr>
            <a:r>
              <a:rPr lang="en-US" altLang="en-US" sz="2000"/>
              <a:t>Problem: This often led to "Callback Hell" or the "Pyramid of Doom," where multiple nested callbacks made the code difficult to read, debug, and maintain.</a:t>
            </a:r>
            <a:endParaRPr lang="en-US" altLang="en-US" sz="2000"/>
          </a:p>
        </p:txBody>
      </p:sp>
      <p:sp>
        <p:nvSpPr>
          <p:cNvPr id="5" name="Text Box 4"/>
          <p:cNvSpPr txBox="1"/>
          <p:nvPr/>
        </p:nvSpPr>
        <p:spPr>
          <a:xfrm>
            <a:off x="872490" y="2884170"/>
            <a:ext cx="4064000" cy="3509010"/>
          </a:xfrm>
          <a:prstGeom prst="rect">
            <a:avLst/>
          </a:prstGeom>
          <a:noFill/>
        </p:spPr>
        <p:txBody>
          <a:bodyPr wrap="square" rtlCol="0">
            <a:noAutofit/>
          </a:bodyPr>
          <a:p>
            <a:pPr>
              <a:lnSpc>
                <a:spcPct val="150000"/>
              </a:lnSpc>
            </a:pPr>
            <a:r>
              <a:rPr lang="en-US" altLang="en-US" sz="1600"/>
              <a:t>// Example of Callback Hell (conceptual)</a:t>
            </a:r>
            <a:endParaRPr lang="en-US" altLang="en-US" sz="1600"/>
          </a:p>
          <a:p>
            <a:pPr>
              <a:lnSpc>
                <a:spcPct val="150000"/>
              </a:lnSpc>
            </a:pPr>
            <a:r>
              <a:rPr lang="en-US" altLang="en-US" sz="1600"/>
              <a:t>getData(function(data) {</a:t>
            </a:r>
            <a:endParaRPr lang="en-US" altLang="en-US" sz="1600"/>
          </a:p>
          <a:p>
            <a:pPr>
              <a:lnSpc>
                <a:spcPct val="150000"/>
              </a:lnSpc>
            </a:pPr>
            <a:r>
              <a:rPr lang="en-US" altLang="en-US" sz="1600"/>
              <a:t>    processData(data, function(processed) {</a:t>
            </a:r>
            <a:endParaRPr lang="en-US" altLang="en-US" sz="1600"/>
          </a:p>
          <a:p>
            <a:pPr>
              <a:lnSpc>
                <a:spcPct val="150000"/>
              </a:lnSpc>
            </a:pPr>
            <a:r>
              <a:rPr lang="en-US" altLang="en-US" sz="1600"/>
              <a:t>        saveData(processed, function(result) {</a:t>
            </a:r>
            <a:endParaRPr lang="en-US" altLang="en-US" sz="1600"/>
          </a:p>
          <a:p>
            <a:pPr>
              <a:lnSpc>
                <a:spcPct val="150000"/>
              </a:lnSpc>
            </a:pPr>
            <a:r>
              <a:rPr lang="en-US" altLang="en-US" sz="1600"/>
              <a:t>            console.log(result);</a:t>
            </a:r>
            <a:endParaRPr lang="en-US" altLang="en-US" sz="1600"/>
          </a:p>
          <a:p>
            <a:pPr>
              <a:lnSpc>
                <a:spcPct val="150000"/>
              </a:lnSpc>
            </a:pPr>
            <a:r>
              <a:rPr lang="en-US" altLang="en-US" sz="1600"/>
              <a:t>        });</a:t>
            </a:r>
            <a:endParaRPr lang="en-US" altLang="en-US" sz="1600"/>
          </a:p>
          <a:p>
            <a:pPr>
              <a:lnSpc>
                <a:spcPct val="150000"/>
              </a:lnSpc>
            </a:pPr>
            <a:r>
              <a:rPr lang="en-US" altLang="en-US" sz="1600"/>
              <a:t>    });</a:t>
            </a:r>
            <a:endParaRPr lang="en-US" altLang="en-US" sz="1600"/>
          </a:p>
          <a:p>
            <a:pPr>
              <a:lnSpc>
                <a:spcPct val="150000"/>
              </a:lnSpc>
            </a:pPr>
            <a:r>
              <a:rPr lang="en-US" altLang="en-US" sz="1600"/>
              <a:t>});</a:t>
            </a:r>
            <a:endParaRPr lang="en-US" altLang="en-US"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Promises (The Foundation)</a:t>
            </a:r>
            <a:endParaRPr lang="en-US" altLang="en-US"/>
          </a:p>
        </p:txBody>
      </p:sp>
      <p:sp>
        <p:nvSpPr>
          <p:cNvPr id="3" name="Content Placeholder 2"/>
          <p:cNvSpPr>
            <a:spLocks noGrp="1"/>
          </p:cNvSpPr>
          <p:nvPr>
            <p:ph idx="1"/>
          </p:nvPr>
        </p:nvSpPr>
        <p:spPr>
          <a:xfrm>
            <a:off x="609600" y="774065"/>
            <a:ext cx="5295900" cy="5353685"/>
          </a:xfrm>
        </p:spPr>
        <p:txBody>
          <a:bodyPr/>
          <a:p>
            <a:pPr marL="0" indent="0">
              <a:lnSpc>
                <a:spcPct val="150000"/>
              </a:lnSpc>
              <a:buNone/>
            </a:pPr>
            <a:r>
              <a:rPr lang="en-US" altLang="en-US" sz="1800"/>
              <a:t>A Promise is an object representing the eventual completion (or failure) of an asynchronous operation and its resulting value.</a:t>
            </a:r>
            <a:endParaRPr lang="en-US" altLang="en-US" sz="1800"/>
          </a:p>
          <a:p>
            <a:pPr marL="0" indent="0">
              <a:lnSpc>
                <a:spcPct val="150000"/>
              </a:lnSpc>
              <a:buNone/>
            </a:pPr>
            <a:r>
              <a:rPr lang="en-US" altLang="en-US" sz="1800" b="1"/>
              <a:t>A Promise can be in one of three states:</a:t>
            </a:r>
            <a:endParaRPr lang="en-US" altLang="en-US" sz="1800" b="1"/>
          </a:p>
          <a:p>
            <a:pPr>
              <a:lnSpc>
                <a:spcPct val="150000"/>
              </a:lnSpc>
            </a:pPr>
            <a:r>
              <a:rPr lang="en-US" altLang="en-US" sz="1800" b="1"/>
              <a:t>Pending:</a:t>
            </a:r>
            <a:r>
              <a:rPr lang="en-US" altLang="en-US" sz="1800"/>
              <a:t> Initial state, neither fulfilled nor rejected.</a:t>
            </a:r>
            <a:endParaRPr lang="en-US" altLang="en-US" sz="1800"/>
          </a:p>
          <a:p>
            <a:pPr>
              <a:lnSpc>
                <a:spcPct val="150000"/>
              </a:lnSpc>
            </a:pPr>
            <a:r>
              <a:rPr lang="en-US" altLang="en-US" sz="1800" b="1"/>
              <a:t>Fulfilled (Resolved):</a:t>
            </a:r>
            <a:r>
              <a:rPr lang="en-US" altLang="en-US" sz="1800"/>
              <a:t> The operation completed successfully.</a:t>
            </a:r>
            <a:endParaRPr lang="en-US" altLang="en-US" sz="1800"/>
          </a:p>
          <a:p>
            <a:pPr>
              <a:lnSpc>
                <a:spcPct val="150000"/>
              </a:lnSpc>
            </a:pPr>
            <a:r>
              <a:rPr lang="en-US" altLang="en-US" sz="1800" b="1"/>
              <a:t>Rejected:</a:t>
            </a:r>
            <a:r>
              <a:rPr lang="en-US" altLang="en-US" sz="1800"/>
              <a:t> The operation failed.</a:t>
            </a:r>
            <a:endParaRPr lang="en-US" altLang="en-US" sz="1800"/>
          </a:p>
          <a:p>
            <a:pPr marL="0" indent="0">
              <a:lnSpc>
                <a:spcPct val="150000"/>
              </a:lnSpc>
              <a:buNone/>
            </a:pPr>
            <a:r>
              <a:rPr lang="en-US" altLang="en-US" sz="1800"/>
              <a:t>You handle the results using the .then() for success and .catch() for errors, which allows for chaining of asynchronous operations, improving readability.</a:t>
            </a:r>
            <a:endParaRPr lang="en-US" altLang="en-US" sz="1800"/>
          </a:p>
        </p:txBody>
      </p:sp>
      <p:sp>
        <p:nvSpPr>
          <p:cNvPr id="4" name="Text Box 3"/>
          <p:cNvSpPr txBox="1"/>
          <p:nvPr/>
        </p:nvSpPr>
        <p:spPr>
          <a:xfrm>
            <a:off x="5906135" y="1007745"/>
            <a:ext cx="5876290" cy="4573270"/>
          </a:xfrm>
          <a:prstGeom prst="rect">
            <a:avLst/>
          </a:prstGeom>
          <a:noFill/>
        </p:spPr>
        <p:txBody>
          <a:bodyPr wrap="square" rtlCol="0">
            <a:noAutofit/>
          </a:bodyPr>
          <a:p>
            <a:r>
              <a:rPr lang="en-US" altLang="en-US"/>
              <a:t>// Promise Example</a:t>
            </a:r>
            <a:endParaRPr lang="en-US" altLang="en-US"/>
          </a:p>
          <a:p>
            <a:r>
              <a:rPr lang="en-US" altLang="en-US"/>
              <a:t>fetch('api/data')</a:t>
            </a:r>
            <a:endParaRPr lang="en-US" altLang="en-US"/>
          </a:p>
          <a:p>
            <a:r>
              <a:rPr lang="en-US" altLang="en-US"/>
              <a:t>    .then(response =&gt; response.json()) // Successfully resolved</a:t>
            </a:r>
            <a:endParaRPr lang="en-US" altLang="en-US"/>
          </a:p>
          <a:p>
            <a:r>
              <a:rPr lang="en-US" altLang="en-US"/>
              <a:t>    .then(data =&gt; {</a:t>
            </a:r>
            <a:endParaRPr lang="en-US" altLang="en-US"/>
          </a:p>
          <a:p>
            <a:r>
              <a:rPr lang="en-US" altLang="en-US"/>
              <a:t>        console.log(data); // Handle the data</a:t>
            </a:r>
            <a:endParaRPr lang="en-US" altLang="en-US"/>
          </a:p>
          <a:p>
            <a:r>
              <a:rPr lang="en-US" altLang="en-US"/>
              <a:t>    })</a:t>
            </a:r>
            <a:endParaRPr lang="en-US" altLang="en-US"/>
          </a:p>
          <a:p>
            <a:r>
              <a:rPr lang="en-US" altLang="en-US"/>
              <a:t>    .catch(error =&gt; {</a:t>
            </a:r>
            <a:endParaRPr lang="en-US" altLang="en-US"/>
          </a:p>
          <a:p>
            <a:r>
              <a:rPr lang="en-US" altLang="en-US"/>
              <a:t>        console.error('Fetch failed:', error); // Handle errors</a:t>
            </a:r>
            <a:endParaRPr lang="en-US" altLang="en-US"/>
          </a:p>
          <a:p>
            <a:r>
              <a:rPr lang="en-US" altLang="en-US"/>
              <a:t>    });</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Async/Await (The Modern Approach)</a:t>
            </a:r>
            <a:endParaRPr lang="en-US" altLang="en-US"/>
          </a:p>
        </p:txBody>
      </p:sp>
      <p:sp>
        <p:nvSpPr>
          <p:cNvPr id="3" name="Content Placeholder 2"/>
          <p:cNvSpPr>
            <a:spLocks noGrp="1"/>
          </p:cNvSpPr>
          <p:nvPr>
            <p:ph idx="1"/>
          </p:nvPr>
        </p:nvSpPr>
        <p:spPr/>
        <p:txBody>
          <a:bodyPr/>
          <a:p>
            <a:pPr>
              <a:lnSpc>
                <a:spcPct val="150000"/>
              </a:lnSpc>
            </a:pPr>
            <a:r>
              <a:rPr lang="en-US" altLang="en-US" sz="2400"/>
              <a:t>The async/await keywords, built on top of Promises, provide a clean, syntax-friendly way to write asynchronous code that looks and behaves like synchronous code.</a:t>
            </a:r>
            <a:endParaRPr lang="en-US" altLang="en-US" sz="2400"/>
          </a:p>
          <a:p>
            <a:pPr>
              <a:lnSpc>
                <a:spcPct val="150000"/>
              </a:lnSpc>
            </a:pPr>
            <a:r>
              <a:rPr lang="en-US" altLang="en-US" sz="2400"/>
              <a:t>async function: A function declared with async always returns a Promise. If the function returns a non-Promise value, JavaScript automatically wraps it in a resolved Promise.</a:t>
            </a:r>
            <a:endParaRPr lang="en-US" altLang="en-US" sz="2400"/>
          </a:p>
          <a:p>
            <a:pPr>
              <a:lnSpc>
                <a:spcPct val="150000"/>
              </a:lnSpc>
            </a:pPr>
            <a:r>
              <a:rPr lang="en-US" altLang="en-US" sz="2400"/>
              <a:t>await keyword: This can only be used inside an async function. It pauses the execution of the async function until the Promise it's placed in front of is resolved.</a:t>
            </a:r>
            <a:endParaRPr lang="en-US"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7330" y="132715"/>
            <a:ext cx="10972800" cy="4953000"/>
          </a:xfrm>
        </p:spPr>
        <p:txBody>
          <a:bodyPr/>
          <a:p>
            <a:pPr marL="0" indent="0">
              <a:buNone/>
            </a:pPr>
            <a:r>
              <a:rPr lang="en-US" altLang="en-US" sz="2000"/>
              <a:t>async function fetchUserData() {</a:t>
            </a:r>
            <a:endParaRPr lang="en-US" altLang="en-US" sz="2000"/>
          </a:p>
          <a:p>
            <a:pPr marL="0" indent="0">
              <a:buNone/>
            </a:pPr>
            <a:r>
              <a:rPr lang="en-US" altLang="en-US" sz="2000"/>
              <a:t>    try {</a:t>
            </a:r>
            <a:endParaRPr lang="en-US" altLang="en-US" sz="2000"/>
          </a:p>
          <a:p>
            <a:pPr marL="0" indent="0">
              <a:buNone/>
            </a:pPr>
            <a:r>
              <a:rPr lang="en-US" altLang="en-US" sz="2000"/>
              <a:t>        // Pauses execution until the fetch Promise resolves</a:t>
            </a:r>
            <a:endParaRPr lang="en-US" altLang="en-US" sz="2000"/>
          </a:p>
          <a:p>
            <a:pPr marL="0" indent="0">
              <a:buNone/>
            </a:pPr>
            <a:r>
              <a:rPr lang="en-US" altLang="en-US" sz="2000"/>
              <a:t>        const response = await fetch('api/user');</a:t>
            </a:r>
            <a:endParaRPr lang="en-US" altLang="en-US" sz="2000"/>
          </a:p>
          <a:p>
            <a:pPr marL="0" indent="0">
              <a:buNone/>
            </a:pPr>
            <a:r>
              <a:rPr lang="en-US" altLang="en-US" sz="2000"/>
              <a:t>        </a:t>
            </a:r>
            <a:endParaRPr lang="en-US" altLang="en-US" sz="2000"/>
          </a:p>
          <a:p>
            <a:pPr marL="0" indent="0">
              <a:buNone/>
            </a:pPr>
            <a:r>
              <a:rPr lang="en-US" altLang="en-US" sz="2000"/>
              <a:t>        // Pauses execution until the json Promise resolves</a:t>
            </a:r>
            <a:endParaRPr lang="en-US" altLang="en-US" sz="2000"/>
          </a:p>
          <a:p>
            <a:pPr marL="0" indent="0">
              <a:buNone/>
            </a:pPr>
            <a:r>
              <a:rPr lang="en-US" altLang="en-US" sz="2000"/>
              <a:t>        const userData = await response.json(); </a:t>
            </a:r>
            <a:endParaRPr lang="en-US" altLang="en-US" sz="2000"/>
          </a:p>
          <a:p>
            <a:pPr marL="0" indent="0">
              <a:buNone/>
            </a:pPr>
            <a:r>
              <a:rPr lang="en-US" altLang="en-US" sz="2000"/>
              <a:t>        </a:t>
            </a:r>
            <a:endParaRPr lang="en-US" altLang="en-US" sz="2000"/>
          </a:p>
          <a:p>
            <a:pPr marL="0" indent="0">
              <a:buNone/>
            </a:pPr>
            <a:r>
              <a:rPr lang="en-US" altLang="en-US" sz="2000"/>
              <a:t>        console.log(userData);</a:t>
            </a:r>
            <a:endParaRPr lang="en-US" altLang="en-US" sz="2000"/>
          </a:p>
          <a:p>
            <a:pPr marL="0" indent="0">
              <a:buNone/>
            </a:pPr>
            <a:r>
              <a:rPr lang="en-US" altLang="en-US" sz="2000"/>
              <a:t>        return userData;</a:t>
            </a:r>
            <a:endParaRPr lang="en-US" altLang="en-US" sz="2000"/>
          </a:p>
          <a:p>
            <a:pPr marL="0" indent="0">
              <a:buNone/>
            </a:pPr>
            <a:endParaRPr lang="en-US" altLang="en-US" sz="2000"/>
          </a:p>
          <a:p>
            <a:pPr marL="0" indent="0">
              <a:buNone/>
            </a:pPr>
            <a:r>
              <a:rPr lang="en-US" altLang="en-US" sz="2000"/>
              <a:t>    } catch (error) {</a:t>
            </a:r>
            <a:endParaRPr lang="en-US" altLang="en-US" sz="2000"/>
          </a:p>
          <a:p>
            <a:pPr marL="0" indent="0">
              <a:buNone/>
            </a:pPr>
            <a:r>
              <a:rPr lang="en-US" altLang="en-US" sz="2000"/>
              <a:t>        // Catch any errors that occurred during the awaits</a:t>
            </a:r>
            <a:endParaRPr lang="en-US" altLang="en-US" sz="2000"/>
          </a:p>
          <a:p>
            <a:pPr marL="0" indent="0">
              <a:buNone/>
            </a:pPr>
            <a:r>
              <a:rPr lang="en-US" altLang="en-US" sz="2000"/>
              <a:t>        console.error('Error fetching user data:', error);</a:t>
            </a:r>
            <a:endParaRPr lang="en-US" altLang="en-US" sz="2000"/>
          </a:p>
          <a:p>
            <a:pPr marL="0" indent="0">
              <a:buNone/>
            </a:pPr>
            <a:r>
              <a:rPr lang="en-US" altLang="en-US" sz="2000"/>
              <a:t>    }</a:t>
            </a:r>
            <a:endParaRPr lang="en-US" altLang="en-US" sz="2000"/>
          </a:p>
          <a:p>
            <a:pPr marL="0" indent="0">
              <a:buNone/>
            </a:pPr>
            <a:r>
              <a:rPr lang="en-US" altLang="en-US" sz="2000"/>
              <a:t>}</a:t>
            </a:r>
            <a:endParaRPr lang="en-US" altLang="en-US" sz="2000"/>
          </a:p>
          <a:p>
            <a:pPr marL="0" indent="0">
              <a:buNone/>
            </a:pPr>
            <a:endParaRPr lang="en-US" altLang="en-US" sz="2000"/>
          </a:p>
          <a:p>
            <a:pPr marL="0" indent="0">
              <a:buNone/>
            </a:pPr>
            <a:r>
              <a:rPr lang="en-US" altLang="en-US" sz="2000"/>
              <a:t>fetchUserData();</a:t>
            </a:r>
            <a:endParaRPr lang="en-US" alt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Event Loop and Concurrency</a:t>
            </a:r>
            <a:endParaRPr lang="en-US" altLang="en-US"/>
          </a:p>
        </p:txBody>
      </p:sp>
      <p:sp>
        <p:nvSpPr>
          <p:cNvPr id="3" name="Content Placeholder 2"/>
          <p:cNvSpPr>
            <a:spLocks noGrp="1"/>
          </p:cNvSpPr>
          <p:nvPr>
            <p:ph idx="1"/>
          </p:nvPr>
        </p:nvSpPr>
        <p:spPr>
          <a:xfrm>
            <a:off x="354965" y="952500"/>
            <a:ext cx="10972800" cy="4953000"/>
          </a:xfrm>
        </p:spPr>
        <p:txBody>
          <a:bodyPr/>
          <a:p>
            <a:pPr marL="0" indent="0">
              <a:lnSpc>
                <a:spcPct val="150000"/>
              </a:lnSpc>
              <a:buNone/>
            </a:pPr>
            <a:r>
              <a:rPr lang="en-US" altLang="en-US" sz="1800"/>
              <a:t>The magic behind non-blocking asynchronous JavaScript lies in the Event Loop, which is part of the JavaScript runtime environment (like Node.js or the browser).</a:t>
            </a:r>
            <a:endParaRPr lang="en-US" altLang="en-US" sz="1800"/>
          </a:p>
          <a:p>
            <a:pPr marL="0" indent="0">
              <a:lnSpc>
                <a:spcPct val="150000"/>
              </a:lnSpc>
              <a:buNone/>
            </a:pPr>
            <a:r>
              <a:rPr lang="en-US" altLang="en-US" sz="1800" b="1"/>
              <a:t>Main Thread (Call Stack): </a:t>
            </a:r>
            <a:r>
              <a:rPr lang="en-US" altLang="en-US" sz="1800"/>
              <a:t>Synchronous code is executed here.</a:t>
            </a:r>
            <a:endParaRPr lang="en-US" altLang="en-US" sz="1800"/>
          </a:p>
          <a:p>
            <a:pPr marL="0" indent="0">
              <a:lnSpc>
                <a:spcPct val="150000"/>
              </a:lnSpc>
              <a:buNone/>
            </a:pPr>
            <a:r>
              <a:rPr lang="en-US" altLang="en-US" sz="1800"/>
              <a:t>Web APIs/Node APIs: When an asynchronous operation (like a network request or setTimeout) is encountered, it's handed off to the appropriate API (outside the JS engine).</a:t>
            </a:r>
            <a:endParaRPr lang="en-US" altLang="en-US" sz="1800"/>
          </a:p>
          <a:p>
            <a:pPr marL="0" indent="0">
              <a:lnSpc>
                <a:spcPct val="150000"/>
              </a:lnSpc>
              <a:buNone/>
            </a:pPr>
            <a:r>
              <a:rPr lang="en-US" altLang="en-US" sz="1800" b="1"/>
              <a:t>Callback Queue (Task Queue):</a:t>
            </a:r>
            <a:r>
              <a:rPr lang="en-US" altLang="en-US" sz="1800"/>
              <a:t> Once the asynchronous operation completes, its associated callback function is placed here.</a:t>
            </a:r>
            <a:endParaRPr lang="en-US" altLang="en-US" sz="1800"/>
          </a:p>
          <a:p>
            <a:pPr marL="0" indent="0">
              <a:lnSpc>
                <a:spcPct val="150000"/>
              </a:lnSpc>
              <a:buNone/>
            </a:pPr>
            <a:r>
              <a:rPr lang="en-US" altLang="en-US" sz="1800" b="1"/>
              <a:t>Event Loop:</a:t>
            </a:r>
            <a:r>
              <a:rPr lang="en-US" altLang="en-US" sz="1800"/>
              <a:t> Continuously checks two things:</a:t>
            </a:r>
            <a:endParaRPr lang="en-US" altLang="en-US" sz="1800"/>
          </a:p>
          <a:p>
            <a:pPr>
              <a:lnSpc>
                <a:spcPct val="150000"/>
              </a:lnSpc>
            </a:pPr>
            <a:r>
              <a:rPr lang="en-US" altLang="en-US" sz="1800"/>
              <a:t>Is the Call Stack empty (i.e., is the main thread idle)?</a:t>
            </a:r>
            <a:endParaRPr lang="en-US" altLang="en-US" sz="1800"/>
          </a:p>
          <a:p>
            <a:pPr>
              <a:lnSpc>
                <a:spcPct val="150000"/>
              </a:lnSpc>
            </a:pPr>
            <a:r>
              <a:rPr lang="en-US" altLang="en-US" sz="1800"/>
              <a:t>Are there any callbacks in the Callback Queue?</a:t>
            </a:r>
            <a:endParaRPr lang="en-US" altLang="en-US" sz="1800"/>
          </a:p>
          <a:p>
            <a:pPr marL="0" indent="0">
              <a:lnSpc>
                <a:spcPct val="150000"/>
              </a:lnSpc>
              <a:buNone/>
            </a:pPr>
            <a:r>
              <a:rPr lang="en-US" altLang="en-US" sz="1800"/>
              <a:t>If the Call Stack is empty, the Event Loop takes the first callback from the queue and pushes it onto the Call Stack for execution. This ensures the main thread is never blocked, allowing the UI to remain responsive.</a:t>
            </a:r>
            <a:endParaRPr lang="en-US" altLang="en-US"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t>ES6+ Features</a:t>
            </a:r>
            <a:endParaRPr lang="en-US" altLang="en-US" b="1"/>
          </a:p>
        </p:txBody>
      </p:sp>
      <p:sp>
        <p:nvSpPr>
          <p:cNvPr id="3" name="Content Placeholder 2"/>
          <p:cNvSpPr>
            <a:spLocks noGrp="1"/>
          </p:cNvSpPr>
          <p:nvPr>
            <p:ph idx="1"/>
          </p:nvPr>
        </p:nvSpPr>
        <p:spPr/>
        <p:txBody>
          <a:bodyPr/>
          <a:p>
            <a:pPr marL="0" indent="0">
              <a:buNone/>
            </a:pPr>
            <a:r>
              <a:rPr lang="en-US" altLang="en-US"/>
              <a:t>Variables: let and const</a:t>
            </a:r>
            <a:endParaRPr lang="en-US" altLang="en-US"/>
          </a:p>
          <a:p>
            <a:r>
              <a:rPr lang="en-US" altLang="en-US"/>
              <a:t>let: Block-scoped, mutable.</a:t>
            </a:r>
            <a:endParaRPr lang="en-US" altLang="en-US"/>
          </a:p>
          <a:p>
            <a:r>
              <a:rPr lang="en-US" altLang="en-US"/>
              <a:t>const: Block-scoped, immutable (reference).</a:t>
            </a:r>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Arrow Functions</a:t>
            </a:r>
            <a:endParaRPr lang="en-US" altLang="en-US"/>
          </a:p>
        </p:txBody>
      </p:sp>
      <p:sp>
        <p:nvSpPr>
          <p:cNvPr id="3" name="Content Placeholder 2"/>
          <p:cNvSpPr>
            <a:spLocks noGrp="1"/>
          </p:cNvSpPr>
          <p:nvPr>
            <p:ph idx="1"/>
          </p:nvPr>
        </p:nvSpPr>
        <p:spPr/>
        <p:txBody>
          <a:bodyPr/>
          <a:p>
            <a:pPr marL="0" indent="0">
              <a:buNone/>
            </a:pPr>
            <a:r>
              <a:rPr lang="en-US" altLang="en-US"/>
              <a:t>const add = (a, b) =&gt; a + b;</a:t>
            </a:r>
            <a:endParaRPr lang="en-US" altLang="en-US"/>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7621</Words>
  <Application>WPS Presentation</Application>
  <PresentationFormat>Widescreen</PresentationFormat>
  <Paragraphs>188</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SimSun</vt:lpstr>
      <vt:lpstr>Wingdings</vt:lpstr>
      <vt:lpstr>Calibri Light</vt:lpstr>
      <vt:lpstr>Calibri</vt:lpstr>
      <vt:lpstr>Microsoft YaHei</vt:lpstr>
      <vt:lpstr>Arial Unicode MS</vt:lpstr>
      <vt:lpstr>Gear Drives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Shalli Leroi</cp:lastModifiedBy>
  <cp:revision>4</cp:revision>
  <dcterms:created xsi:type="dcterms:W3CDTF">2025-07-23T00:59:00Z</dcterms:created>
  <dcterms:modified xsi:type="dcterms:W3CDTF">2025-11-18T17:46:03Z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53D98EA922644B478A13410A32A3BB50_13</vt:lpwstr>
  </property>
  <property fmtid="{D5CDD505-2E9C-101B-9397-08002B2CF9AE}" pid="3" name="KSOProductBuildVer">
    <vt:lpwstr>1033-12.2.0.22549</vt:lpwstr>
  </property>
</Properties>
</file>